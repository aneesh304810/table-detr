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</c:v>
                </c:pt>
              </c:strCache>
            </c:strRef>
          </c:tx>
          <c:spPr>
            <a:solidFill>
              <a:srgbClr val="1F4E5C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A0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6</c:v>
                </c:pt>
                <c:pt idx="4">
                  <c:v>11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 CPU</c:v>
                </c:pt>
              </c:strCache>
            </c:strRef>
          </c:tx>
          <c:spPr>
            <a:solidFill>
              <a:srgbClr val="1F4E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1.4</c:v>
                </c:pt>
                <c:pt idx="2">
                  <c:v>1.35</c:v>
                </c:pt>
                <c:pt idx="3">
                  <c:v>1.3</c:v>
                </c:pt>
                <c:pt idx="4">
                  <c:v>1.55</c:v>
                </c:pt>
                <c:pt idx="5">
                  <c:v>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MIGRATION PROGRAM  ·  CAPITAL PARTNERS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Airflow on Oracle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proof that the migration adds zero infrastructure footprint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60604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scenarios run end-to-end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3749040"/>
            <a:ext cx="260604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1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same data, same hardware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749040"/>
            <a:ext cx="260604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8221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I/O from one SQL predicate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Briefing for the CTO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347472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389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Airflow on Oracle for the SWP migration — proven scalable on the existing footprint.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16916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89888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59105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dbt + Airflow at SWP scale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205740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new transformation engine and orchestrator can replace AddVantage/STAR without requiring more Oracle hardware, and identify where the platform breaks under stress.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1280160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280160"/>
            <a:ext cx="73152" cy="16916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389888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CONCERNS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159105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open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205740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Oracle box need to grow?  Can the platform hold the line at 500M+ daily holdings rows feeding ~1,000 consumers?  Where is the cliff — and is it data, SQL, or hardware?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08576" y="1280160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280160"/>
            <a:ext cx="73152" cy="16916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389888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73168" y="159105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8-scenario empirical stress test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205740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3-layer dbt-on-Oracle pipeline (staging → intermediate → marts). Varied volume, SQL complexity, model count, and execution threads. Captured AWR + pipeline metrics per phase.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9984" y="1280160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1280160"/>
            <a:ext cx="73152" cy="16916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4" name="Text 22"/>
          <p:cNvSpPr/>
          <p:nvPr/>
        </p:nvSpPr>
        <p:spPr>
          <a:xfrm>
            <a:off x="6894576" y="1389888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94576" y="159105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infrastructure needed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94576" y="205740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 delivers 11× faster runtime, 1000× less I/O, with peak DB CPU 1.8 and peak PGA &lt;1 GB. The migration scales on the box we already own — governed by SQL guardrails, not hardware.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solidFill>
            <a:srgbClr val="E8EEF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310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 → 32M loaded; 1.1B &amp; 5B projected via DBMS_STATS</a:t>
            </a:r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Transformation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extreme (concentration flag, FX bucket, return %)</a:t>
            </a:r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Models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→ 5,000</a:t>
            </a:r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Threads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657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MATTER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1993392" cy="777240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398678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" y="432511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" y="445312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vs S6 runtime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458114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32M rows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87168" y="3950208"/>
            <a:ext cx="1993392" cy="777240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37" name="Text 35"/>
          <p:cNvSpPr/>
          <p:nvPr/>
        </p:nvSpPr>
        <p:spPr>
          <a:xfrm>
            <a:off x="2596896" y="398678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596896" y="432511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96896" y="445312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after pruning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96896" y="458114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→ 0.25 MB/s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08576" y="3950208"/>
            <a:ext cx="1993392" cy="777240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42" name="Text 40"/>
          <p:cNvSpPr/>
          <p:nvPr/>
        </p:nvSpPr>
        <p:spPr>
          <a:xfrm>
            <a:off x="4718304" y="398678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718304" y="432511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18304" y="445312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458114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29984" y="3950208"/>
            <a:ext cx="1993392" cy="777240"/>
          </a:xfrm>
          <a:prstGeom prst="rect">
            <a:avLst/>
          </a:prstGeom>
          <a:solidFill>
            <a:srgbClr val="143843"/>
          </a:solidFill>
          <a:ln/>
        </p:spPr>
      </p:sp>
      <p:sp>
        <p:nvSpPr>
          <p:cNvPr id="47" name="Text 45"/>
          <p:cNvSpPr/>
          <p:nvPr/>
        </p:nvSpPr>
        <p:spPr>
          <a:xfrm>
            <a:off x="6839712" y="398678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GB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839712" y="4325112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39712" y="4453128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memory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39712" y="4581144"/>
            <a:ext cx="1810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memory-bound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65760" y="47731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proceed on the existing Oracle footprint, governed by SQL guardrails enforced in code review.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the CTO put on the table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141732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dbt + Airflow grow the Oracle box?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transformation engine and orchestrator on top of the existing AddVantage/STAR stack should not require more Oracle CPU, RAM, or I/O than today.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88720" y="251460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606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scale to the full SWP book?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we expect 500M+ daily holdings rows feeding ~1,000 downstream consumers. Can the platform hold the line at that volume?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3611880"/>
            <a:ext cx="740664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cliff, and what controls it?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 break the system, what is the breaking point — and is the lever data volume, SQL design, or hardware?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answers all three with empirical numbers, not opinion.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dbt-on-Oracle is actually doing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 layers that run inside Oracle. dbt generates the SQL; Airflow only orchestrates.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source row. Standardize currencies, flag cross-currency positions, default missing credit ratings to NR, derive is_active.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raw feed trustworthy.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880360"/>
            <a:ext cx="164592" cy="1645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8328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661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 MV, cost, unrealized gain, cross-ccy MV.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room — joins run once, many marts read.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80360"/>
            <a:ext cx="164592" cy="1645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17920" y="1600200"/>
            <a:ext cx="26517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3" name="Text 19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40080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materialized as a table. Adds market-to-cost ratio and cross-currency weight. Read by ~1,000 downstream consumers.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 for the SWP migration.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solidFill>
            <a:srgbClr val="C9D7DB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4526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pushed to the data, not data to the compute.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runs inside Oracle — no Python/Java middle tier extracts rows over the wire.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feed to portfolio fact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does one job. Data flows left-to-right inside Oracle — never leaves the database.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1874520" cy="5029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partitioned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raw_holdings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· 24 monthly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raw_securities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raw_accounts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(small)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raw_transactions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33649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raw_fx_rates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5295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(tiny)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NOLOGGING + COMPRESS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Direct-path APPEND load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50592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0592" y="1371600"/>
            <a:ext cx="1874520" cy="5029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5" name="Text 23"/>
          <p:cNvSpPr/>
          <p:nvPr/>
        </p:nvSpPr>
        <p:spPr>
          <a:xfrm>
            <a:off x="2450592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50592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views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42032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stg_holdings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UPPER, x-ccy flag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42032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stg_securities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42032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CUSIP-or-ISIN canonical ID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42032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stg_accounts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42032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type/ccy UPPER, is_active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42032" y="30540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fallback for ratings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42032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gain &amp; weight pass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50592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2523744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predicate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in HERE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pruning fires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89704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9704" y="1371600"/>
            <a:ext cx="1874520" cy="5029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39" name="Text 37"/>
          <p:cNvSpPr/>
          <p:nvPr/>
        </p:nvSpPr>
        <p:spPr>
          <a:xfrm>
            <a:off x="4489704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9704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· views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81144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int_holdings_enriched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81144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joined: holdings × sec × acct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81144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lot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81144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security × date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81144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asset class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81144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class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81144" y="3054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by sector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81144" y="32186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× date × sector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81144" y="3364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MV, cost, gain, x-ccy MV totals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489704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4562856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run ONCE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marts reuse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pre-aggregated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28816" y="1371600"/>
            <a:ext cx="1874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28816" y="1371600"/>
            <a:ext cx="1874520" cy="5029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4" name="Text 52"/>
          <p:cNvSpPr/>
          <p:nvPr/>
        </p:nvSpPr>
        <p:spPr>
          <a:xfrm>
            <a:off x="6528816" y="1408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28816" y="16642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· table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20256" y="21214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fct_portfolio_summary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20256" y="22860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Oracle table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620256" y="24323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market-to-cost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20256" y="2596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price-appreciation indicator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620256" y="27432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cross-ccy weight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620256" y="2907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%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528816" y="3657600"/>
            <a:ext cx="18745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6601968" y="368503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~1,000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downstream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295144" y="2811780"/>
            <a:ext cx="146304" cy="0"/>
          </a:xfrm>
          <a:prstGeom prst="line">
            <a:avLst/>
          </a:prstGeom>
          <a:noFill/>
          <a:ln w="31750">
            <a:solidFill>
              <a:srgbClr val="1F4E5C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334256" y="2811780"/>
            <a:ext cx="146304" cy="0"/>
          </a:xfrm>
          <a:prstGeom prst="line">
            <a:avLst/>
          </a:prstGeom>
          <a:noFill/>
          <a:ln w="31750">
            <a:solidFill>
              <a:srgbClr val="1F4E5C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373368" y="2811780"/>
            <a:ext cx="146304" cy="0"/>
          </a:xfrm>
          <a:prstGeom prst="line">
            <a:avLst/>
          </a:prstGeom>
          <a:noFill/>
          <a:ln w="31750">
            <a:solidFill>
              <a:srgbClr val="1F4E5C"/>
            </a:solidFill>
            <a:prstDash val="solid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411480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450592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9704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28816" y="1901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1480" y="4498848"/>
            <a:ext cx="8321040" cy="38404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4507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flow (S5/S6 example)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raw rows  →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staged (no filter) </a:t>
            </a:r>
            <a:pPr indent="0" marL="0">
              <a:buNone/>
            </a:pPr>
            <a:r>
              <a:rPr lang="en-US" sz="10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11M (pruned)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~20K aggregated  →  ~10K mart rows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position from raw to mart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equity holding in the Smith Family Trust on 15-Mar-2024 — what the record looks like at each layer.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154680"/>
        </p:xfrm>
        <a:graphic>
          <a:graphicData uri="http://schemas.openxmlformats.org/drawingml/2006/table">
            <a:tbl>
              <a:tblPr/>
              <a:tblGrid>
                <a:gridCol w="1691640"/>
                <a:gridCol w="1554480"/>
                <a:gridCol w="1691640"/>
                <a:gridCol w="1783080"/>
                <a:gridCol w="16002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/ 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ACC-12345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 from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 feed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 fallback applied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"NR"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is_cross_currency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unrealized_gain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− cost 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"AAPL"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asset_class · 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· Tech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from sec master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cross_currency_mv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exposure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market_to_cost_ratio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÷ cost — appreciation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cross_currency_weight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A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x-ccy MV ÷ total 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471416"/>
            <a:ext cx="146304" cy="146304"/>
          </a:xfrm>
          <a:prstGeom prst="rect">
            <a:avLst/>
          </a:prstGeom>
          <a:solidFill>
            <a:srgbClr val="ECFDF5"/>
          </a:solidFill>
          <a:ln w="6350">
            <a:solidFill>
              <a:srgbClr val="22A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434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 this layer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74520" y="4471416"/>
            <a:ext cx="146304" cy="146304"/>
          </a:xfrm>
          <a:prstGeom prst="rect">
            <a:avLst/>
          </a:prstGeom>
          <a:solidFill>
            <a:srgbClr val="FFF7ED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4434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/ standardized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20440" y="443484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03320" y="4434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present at this layer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solidFill>
            <a:srgbClr val="C9D7D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row.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messy and incomplete. Staging makes it trustworthy. Intermediate adds reference context and rolls it up. Mart publishes the business measures the trust officer actually reads.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scenarios across 4 stress dimensions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→ 5,000 dbt models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80160"/>
            <a:ext cx="54864" cy="9601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2" name="Text 10"/>
          <p:cNvSpPr/>
          <p:nvPr/>
        </p:nvSpPr>
        <p:spPr>
          <a:xfrm>
            <a:off x="27706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Complexity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706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extreme (RMJ-style)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80160"/>
            <a:ext cx="54864" cy="9601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 → 32M loaded;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 &amp; 5B projected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0160"/>
            <a:ext cx="18745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280160"/>
            <a:ext cx="54864" cy="96012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85432" y="1353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627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8 threads, full-refresh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scenarios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773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73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773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773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773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6060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Migration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060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347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47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36347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SQL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347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347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788920"/>
            <a:ext cx="914400" cy="1508760"/>
          </a:xfrm>
          <a:prstGeom prst="rect">
            <a:avLst/>
          </a:prstGeom>
          <a:solidFill>
            <a:srgbClr val="FEF2F2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6634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92140" y="2788920"/>
            <a:ext cx="914400" cy="1508760"/>
          </a:xfrm>
          <a:prstGeom prst="rect">
            <a:avLst/>
          </a:prstGeom>
          <a:solidFill>
            <a:srgbClr val="ECFDF5"/>
          </a:solidFill>
          <a:ln w="19050">
            <a:solidFill>
              <a:srgbClr val="22A0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921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6921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921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921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08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67208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208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1.1B*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208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49540" y="2788920"/>
            <a:ext cx="9144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49540" y="2862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7749540" y="3200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4954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5B*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749540" y="3904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min*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4498848"/>
            <a:ext cx="8046720" cy="38404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64" name="Text 62"/>
          <p:cNvSpPr/>
          <p:nvPr/>
        </p:nvSpPr>
        <p:spPr>
          <a:xfrm>
            <a:off x="777240" y="4507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loads + AWR-anchored timings for S1–S6. S7/S8 use </a:t>
            </a:r>
            <a:pPr indent="0" marL="0">
              <a:buNone/>
            </a:pPr>
            <a:r>
              <a:rPr lang="en-US" sz="900" dirty="0">
                <a:solidFill>
                  <a:srgbClr val="C9D7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DBMS_STATS.SET_TABLE_STATS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project to 1.1B / 5B rows from a 10M sample — standard Oracle capacity-planning technique.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composition per scenario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volume = rows in raw_holdings (the partitioned fact table). Reference and event tables sized proportionally to a real wealth-management book.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60604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  <a:gridCol w="960120"/>
                <a:gridCol w="1143000"/>
                <a:gridCol w="960120"/>
                <a:gridCol w="640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 Current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 Full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 Complex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 No Pruning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 Pruning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 Enterprise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 Worst Case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solidFill>
            <a:srgbClr val="E8EE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4714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S7 / S8: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10M-row sample loaded; row counts projected via DBMS_STATS for realistic explain plans without multi-day loads.    </a:t>
            </a:r>
            <a:pPr indent="0" marL="0">
              <a:buNone/>
            </a:pPr>
            <a:r>
              <a:rPr lang="en-US" sz="9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 S6: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S5's data — only the SQL predicate differs. Isolates the pruning effect cleanly.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scenario actually transforms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3-layer recipe everywhere. What changes per scenario is volume, SQL complexity, and the partition predicate.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·  CLEAN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currencies. Flag cross-currency. CUSIP-or-ISIN canonical ID. NR fallback. Pass-through pre-computed gain &amp; weight.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·  COMBINE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Left-join holdings × securities × accounts. Three roll-ups: lot-level, by asset class, by sector. Totals: MV, cost, gain, x-ccy MV.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9748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 ·  CONCLUDE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7190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fct_portfolio_summary as physical table. Adds market-to-cost ratio (price appreciation) and cross-currency weight (FX exposure).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542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varies per scenario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240280"/>
        </p:xfrm>
        <a:graphic>
          <a:graphicData uri="http://schemas.openxmlformats.org/drawingml/2006/table">
            <a:tbl>
              <a:tblPr/>
              <a:tblGrid>
                <a:gridCol w="411480"/>
                <a:gridCol w="1371600"/>
                <a:gridCol w="777240"/>
                <a:gridCol w="56692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varies from the standard recipe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smallest scale (CI floor)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at today's AddVantage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recipe, full SWP scope (500 models, 8 threads)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risk lens to staging: concentration flag · FX bucket · grossed-up MV · return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— but NO date filter in staging (full-scan stress test)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recipe + WHERE as_of_date &gt;= TRUNC(SYSDATE)-30 in innermost stg CTE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recipe, projected via DBMS_STATS to 1.1B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(extreme) recipe, projected via DBMS_STATS to 5B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minutes → 1 minute. 1000× less I/O.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32M rows stored. Same hardware. Same threads. Only the staging WHERE clause changes.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·  NO PRUNING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→ 1.8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bottleneck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393192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·  PRUNING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8463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physical reads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 of 32M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efficient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95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proven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34840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451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SQL design, not hardware. </a:t>
            </a:r>
            <a:pPr indent="0" marL="0">
              <a:buNone/>
            </a:pPr>
            <a:r>
              <a:rPr lang="en-US" sz="10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eliminates 21M of 32M rows from the scan — the whole runtime delta is just less work.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scenarios — AWR-anchored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640080"/>
                <a:gridCol w="1005840"/>
                <a:gridCol w="777240"/>
                <a:gridCol w="914400"/>
                <a:gridCol w="914400"/>
                <a:gridCol w="7772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(MB/s)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 (MB)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/ CI 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spike 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I/O is one-time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AddVantage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SWP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947→476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 improves CPU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RMJ rewrite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complexity = CPU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predicate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– 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257 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Full-scan I/O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pushed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~11M (pruned)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efficient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steady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11× faster, 1000× less I/O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Pruning-dependent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 (projected)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Hard-ceiling reference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S1 spike is cold-cache warm-up, not steady-state load.    *  S7/S8 metrics are CBO-modeled; volume projected via DBMS_STATS.    Rows Processed = rows actually scanned during dbt run (key driver of runtime, not total stored).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millions of rows run in minutes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isn't the lever. Data access is. Runtime tracks rows scanned, not rows stored.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≠ rows stored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stores 32M rows but only reads ~11M after pruning. The other 21M live in partitions Oracle never opens. Runtime tracks the smaller number.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stored → 11M scanned in S6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55448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I/O, not row-by-row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reads 8 KB blocks holding hundreds of rows each. Millions of rows = thousands of blocks. The unit of work is much coarser than the unit of data.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587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blocks, not 1 row at a 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fans out 4–8 threads. Oracle splits each model across PX servers. S3 processes 16M rows in 9 min — 4× S2's volume in 3× the time, not 4×.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threads, work splits cleanly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3840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017520"/>
            <a:ext cx="502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3108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+ cached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unrealized_gain and weight_in_acct materialized at load — no runtime arithmetic, no window functions. Buffer cache absorbs repeat reads (S1's 257 MB/s spike never recurs).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math, hot blocks cached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5262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≈  </a:t>
            </a:r>
            <a:pPr algn="ctr" indent="0" marL="0">
              <a:buNone/>
            </a:pPr>
            <a:r>
              <a:rPr lang="en-US" sz="12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scanned ÷ I/O throughput) </a:t>
            </a:r>
            <a:pPr algn="ctr" indent="0" marL="0">
              <a:buNone/>
            </a:pPr>
            <a:r>
              <a:rPr lang="en-US" sz="120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CPU cost  +  SQL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on every axis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5156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across any scenario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54864" cy="105156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peak (MB)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1 GB; not memory-bound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060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steady I/O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predicate pushdown enforced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 (minutes) — S5 vs S6 tells the whole story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6634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CPU peak — never saturates</a:t>
            </a:r>
            <a:endParaRPr lang="en-US" sz="11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572000" y="2788920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548640" y="4645152"/>
            <a:ext cx="8046720" cy="256032"/>
          </a:xfrm>
          <a:prstGeom prst="rect">
            <a:avLst/>
          </a:prstGeom>
          <a:solidFill>
            <a:srgbClr val="C9D7DB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46451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CPU nor memory is a constraint. dbt + Airflow add no measurable infra cost when SQL design is enforced.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956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Brown Brothers Harriman &amp; Co.  Confidential &amp; Proprietary. Not to be reproduced without the explicit consent of BBH &amp; Co.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0" cy="36576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on the existing Oracle footprint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90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Does dbt + Airflow grow Oracle?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Airflow only orchestrates; dbt only generates SQL. All compute happens inside Oracle, where it already happens today. Peak DB CPU 1.8, peak PGA 947 MB — well within current sizing.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9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Does it scale to the full SWP book?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provided every model has a partition predicate. With pruning, 32M rows runs in 1 minute on the same hardware that takes 11 minutes without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1F4E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27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Where is the cliff?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CPU or memory. The cliff is I/O on un-predicated SQL — and it is preventable in code review via SQL guardrails.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8795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32M rows, un-pruned SQL scans all 32M, drives 257 MB/s I/O, runs 11 minutes. Pruned SQL scans only ~11M, drops I/O to 0.25 MB/s, completes in 1 minute. </a:t>
            </a:r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 faster, 1000× less I/O, on identical infrastructure.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SWP migration scales on the box we already own.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SWP Stress Test — CTO Briefing</dc:title>
  <dc:subject>PptxGenJS Presentation</dc:subject>
  <dc:creator>Aneesh — Capital Partners Technology, BBH</dc:creator>
  <cp:lastModifiedBy>Aneesh — Capital Partners Technology, BBH</cp:lastModifiedBy>
  <cp:revision>1</cp:revision>
  <dcterms:created xsi:type="dcterms:W3CDTF">2026-05-12T19:38:48Z</dcterms:created>
  <dcterms:modified xsi:type="dcterms:W3CDTF">2026-05-12T19:38:48Z</dcterms:modified>
</cp:coreProperties>
</file>